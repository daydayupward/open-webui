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8D9FF"/>
                </a:solidFill>
                <a:latin typeface="Aptos"/>
              </a:rPr>
              <a:t>CHIP-RAG · ARCHITECTURE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772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8FC"/>
                </a:solidFill>
                <a:latin typeface="Aptos"/>
              </a:rPr>
              <a:t>让芯片设计知识
可检索、可验证、可追溯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B8CA"/>
                </a:solidFill>
                <a:latin typeface="Aptos"/>
              </a:rPr>
              <a:t>面向 PDK 规则、EDA 脚本与设计指标的多专家 RAG 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5B8CA"/>
                </a:solidFill>
                <a:latin typeface="Aptos"/>
              </a:rPr>
              <a:t>核心主张：领域路由决定检索边界，Self-RAG 决定回答可信度，引用抽屉让证据可回溯。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ARCHITECTURE &amp;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01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四层架构：从接入到知识库</a:t>
            </a:r>
          </a:p>
        </p:txBody>
      </p:sp>
      <p:pic>
        <p:nvPicPr>
          <p:cNvPr id="5" name="Picture 4" descr="arch_overview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6294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874519"/>
            <a:ext cx="384048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8" y="203911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2441448"/>
            <a:ext cx="343814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Open WebUI ·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926080"/>
            <a:ext cx="384048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309067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893FF"/>
                </a:solidFill>
                <a:latin typeface="Aptos"/>
              </a:rPr>
              <a:t>编排层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493008"/>
            <a:ext cx="343814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Supervisor · Expert · Finalizer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977639"/>
            <a:ext cx="384048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4142231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检索层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544568"/>
            <a:ext cx="343814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查询扩展 · 向量检索 · 重排序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5029200"/>
            <a:ext cx="384048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519379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存储层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5596128"/>
            <a:ext cx="3438144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PostgreSQL + pgvector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02 · RETRIEVAL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RAG 工作流：先缩小范围，再丰富上下文</a:t>
            </a:r>
          </a:p>
        </p:txBody>
      </p:sp>
      <p:pic>
        <p:nvPicPr>
          <p:cNvPr id="5" name="Picture 4" descr="rag_workflow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7899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查询扩展  →  元数据硬过滤  →  向量召回 50  →  父文本注入  →  重排序 Top 10-15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RETRIEVAL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03 · GROUNDING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Parent-Child：精确匹配 + 丰富证据</a:t>
            </a:r>
          </a:p>
        </p:txBody>
      </p:sp>
      <p:pic>
        <p:nvPicPr>
          <p:cNvPr id="5" name="Picture 4" descr="chunking_strategy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5836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737360"/>
            <a:ext cx="3931920" cy="10515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4968" y="1901952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子块约 300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8" y="2304288"/>
            <a:ext cx="3529584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适合向量匹配与精确定位。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971800"/>
            <a:ext cx="3931920" cy="10515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3136392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893FF"/>
                </a:solidFill>
                <a:latin typeface="Aptos"/>
              </a:rPr>
              <a:t>父块约 2000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3538728"/>
            <a:ext cx="3529584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提供完整规则、表格和上下文。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206240"/>
            <a:ext cx="3931920" cy="10515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4370831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命中后注入 parent_text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4773168"/>
            <a:ext cx="3529584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避免回答只看到短片段。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CHUNKING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04 · SELF-RAG &amp; EXPERT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Self-RAG：回答不是终点，验证才是闭环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31546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PDK Expert · 规则问答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3072384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按工艺节点、类别与规则语义检索；幻觉或不完整时重写答案。
DRC / LVS
规则引用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1546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EDA Expert · 脚本生成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95728"/>
            <a:ext cx="3072384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Tcl/Skill 生成后经过程序化 Lint 与 LLM Review，再进入精炼循环。
语法检查
危险命令拦截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31546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Metrics Expert · 指标分析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95728"/>
            <a:ext cx="3072384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Text-to-SQL 只允许只读查询，并结合项目文档完成总结。
SQL Guardrails
单位规范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5B8CA"/>
                </a:solidFill>
                <a:latin typeface="Aptos"/>
              </a:rPr>
              <a:t>验证器异常默认拒绝（False），并提供一次生成重试；长期可引入可观测评估集。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EXPERT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05 ·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相对主流 RAG，Chip-RAG 的差异化</a:t>
            </a:r>
          </a:p>
        </p:txBody>
      </p:sp>
      <p:pic>
        <p:nvPicPr>
          <p:cNvPr id="5" name="Picture 4" descr="sota_comparison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10789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8D9FF"/>
                </a:solidFill>
                <a:latin typeface="Aptos"/>
              </a:rPr>
              <a:t>领域适配  ·  证据闭环  ·  工程安全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06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下一步：从可用走向可度量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短期 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302666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混合检索（BM25 + 向量）
对话摘要 + 窗口
统一引用数据契约
建立回归查询集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2900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0195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893FF"/>
                </a:solidFill>
                <a:latin typeface="Aptos"/>
              </a:rPr>
              <a:t>中期 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04288"/>
            <a:ext cx="302666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HyDE 查询扩展
缓存层
自动化评估流水线
按任务风险动态选择验证强度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42900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90195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长期方向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04288"/>
            <a:ext cx="302666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多模态图文理解
知识图谱
工具调用
跨项目知识治理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C15C"/>
                </a:solidFill>
                <a:latin typeface="Aptos"/>
              </a:rPr>
              <a:t>建议指标：召回率 &gt; 95% · 幻觉率 &lt; 2% · 首 token 延迟 &lt; 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ROADMAP &amp;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