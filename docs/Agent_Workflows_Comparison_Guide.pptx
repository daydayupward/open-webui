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8D9FF"/>
                </a:solidFill>
                <a:latin typeface="Aptos"/>
              </a:rPr>
              <a:t>AGENT ENGINEERING ·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772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4F8FC"/>
                </a:solidFill>
                <a:latin typeface="Aptos"/>
              </a:rPr>
              <a:t>三大主流
AI Agent 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5B8CA"/>
                </a:solidFill>
                <a:latin typeface="Aptos"/>
              </a:rPr>
              <a:t>Matt Pocock Skills × Addy Osmani Agent Skills × obra Superpowers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5B8CA"/>
                </a:solidFill>
                <a:latin typeface="Aptos"/>
              </a:rPr>
              <a:t>从“能写代码”走向“可复用、可验证、可交付”。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WORKFLOW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01 · WHY WORKFLOW?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模型能力之外，流程纪律决定交付质量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6492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4F8FC"/>
                </a:solidFill>
                <a:latin typeface="Aptos"/>
              </a:rPr>
              <a:t>“优秀的 Agent 不是更会生成，而是更少跳过关键步骤。”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6492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5B8CA"/>
                </a:solidFill>
                <a:latin typeface="Aptos"/>
              </a:rPr>
              <a:t>三套方案都把工程实践编码成可触发的技能，但在自由度、强制程度和多 Agent 协同上取舍不同。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91640"/>
            <a:ext cx="3749039" cy="77724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1856232"/>
            <a:ext cx="3346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258568"/>
            <a:ext cx="3346703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理解目标与边界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743200"/>
            <a:ext cx="3749039" cy="77724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2907792"/>
            <a:ext cx="3346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310128"/>
            <a:ext cx="3346703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拆成可验证任务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794760"/>
            <a:ext cx="3749039" cy="77724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3959352"/>
            <a:ext cx="3346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反馈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4361688"/>
            <a:ext cx="3346703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测试、审查、修正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846320"/>
            <a:ext cx="3749039" cy="77724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5010912"/>
            <a:ext cx="33467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5413248"/>
            <a:ext cx="3346703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确认结果再结束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THE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02 · THREE PHILOSOPHIES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三种工作流哲学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74720" cy="3383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933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15C"/>
                </a:solidFill>
                <a:latin typeface="Aptos"/>
              </a:rPr>
              <a:t>Matt Pocock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3072384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可组合的工程纪律
领域建模 · 深模块 · TDD · 代码审查
轻量 / 可组合 / 模型无关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3383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933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Addy Osmani Agent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395728"/>
            <a:ext cx="3072384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完整生命周期
Define → Plan → Build → Test → Review → Ship
验证门 / 跨平台 / 可复用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3383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9933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C8CFF"/>
                </a:solidFill>
                <a:latin typeface="Aptos"/>
              </a:rPr>
              <a:t>obra Superpowers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395728"/>
            <a:ext cx="3072384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强制式工程方法论
Brainstorming · Worktree · Plan · TDD · Subagent Review
强约束 / 多 Agent / 可审计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THREE APPROACHES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03 · LIFECYCLE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同一条主线，不同的控制面</a:t>
            </a:r>
          </a:p>
        </p:txBody>
      </p:sp>
      <p:pic>
        <p:nvPicPr>
          <p:cNvPr id="5" name="Picture 4" descr="agent_workflows_comparison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1078992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ONE LIFECYCLE · THREE CONTROL 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04 · COMPARISON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能力矩阵：从“建议”到“门禁”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347472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流程强度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4901183" cy="2761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Matt Pocock：高灵活度 · 中等约束
Addy Osmani：生命周期完整 · 验证明确
Superpowers：强制流程 · 协同最完整
共同底线：计划、测试、审查、证据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5B8CA"/>
                </a:solidFill>
                <a:latin typeface="Aptos"/>
              </a:rPr>
              <a:t>灵活性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182880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8D9FF"/>
                </a:solidFill>
                <a:latin typeface="Aptos"/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5B8CA"/>
                </a:solidFill>
                <a:latin typeface="Aptos"/>
              </a:rPr>
              <a:t>过程强制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7432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8D9FF"/>
                </a:solidFill>
                <a:latin typeface="Aptos"/>
              </a:rPr>
              <a:t>中高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576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5B8CA"/>
                </a:solidFill>
                <a:latin typeface="Aptos"/>
              </a:rPr>
              <a:t>多 Agent 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365760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8D9FF"/>
                </a:solidFill>
                <a:latin typeface="Aptos"/>
              </a:rPr>
              <a:t>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212848"/>
            <a:ext cx="4206240" cy="146304"/>
          </a:xfrm>
          <a:prstGeom prst="roundRect">
            <a:avLst/>
          </a:prstGeom>
          <a:solidFill>
            <a:srgbClr val="58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3127248"/>
            <a:ext cx="3566160" cy="146304"/>
          </a:xfrm>
          <a:prstGeom prst="roundRect">
            <a:avLst/>
          </a:prstGeom>
          <a:solidFill>
            <a:srgbClr val="58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4041648"/>
            <a:ext cx="3840480" cy="146304"/>
          </a:xfrm>
          <a:prstGeom prst="roundRect">
            <a:avLst/>
          </a:prstGeom>
          <a:solidFill>
            <a:srgbClr val="58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8920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5B8CA"/>
                </a:solidFill>
                <a:latin typeface="Aptos"/>
              </a:rPr>
              <a:t>示意性相对强度，用于选择工作流，不代表官方 benchmark。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TRADE-OFFS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05 · FIT FOR CHIP-RAG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对 Chip-RAG 的启发：组合，而非照搬</a:t>
            </a:r>
          </a:p>
        </p:txBody>
      </p:sp>
      <p:pic>
        <p:nvPicPr>
          <p:cNvPr id="5" name="Picture 4" descr="arch_overview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21792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828800"/>
            <a:ext cx="4389120" cy="1097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33488" y="1993392"/>
            <a:ext cx="3986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15C"/>
                </a:solidFill>
                <a:latin typeface="Aptos"/>
              </a:rPr>
              <a:t>Matt Pocock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2395728"/>
            <a:ext cx="3986783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领域语言、架构边界、轻量设计讨论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154680"/>
            <a:ext cx="4389120" cy="1097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3319272"/>
            <a:ext cx="3986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Addy Osmani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3721608"/>
            <a:ext cx="3986783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将功能拆成 Spec → Plan → Build → Verify →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480560"/>
            <a:ext cx="4389120" cy="109728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4645152"/>
            <a:ext cx="39867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C8CFF"/>
                </a:solidFill>
                <a:latin typeface="Aptos"/>
              </a:rPr>
              <a:t>Superpowers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5047488"/>
            <a:ext cx="3986783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高风险改动、跨文件重构、多 Agent 实施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APPLICATION TO CHIP-RAG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06 · RECOMMENDED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推荐工作流：四道门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20240"/>
            <a:ext cx="1417320" cy="1417320"/>
          </a:xfrm>
          <a:prstGeom prst="ellipse">
            <a:avLst/>
          </a:prstGeom>
          <a:solidFill>
            <a:srgbClr val="103750"/>
          </a:solidFill>
          <a:ln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3230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8D9FF"/>
                </a:solidFill>
                <a:latin typeface="Aptos"/>
              </a:rPr>
              <a:t>ALIGN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4231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5B8CA"/>
                </a:solidFill>
                <a:latin typeface="Aptos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3611879" y="1920240"/>
            <a:ext cx="1417320" cy="1417320"/>
          </a:xfrm>
          <a:prstGeom prst="ellipse">
            <a:avLst/>
          </a:prstGeom>
          <a:solidFill>
            <a:srgbClr val="103750"/>
          </a:solidFill>
          <a:ln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43230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8D9FF"/>
                </a:solidFill>
                <a:latin typeface="Apto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4231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5B8CA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1920240"/>
            <a:ext cx="1417320" cy="1417320"/>
          </a:xfrm>
          <a:prstGeom prst="ellipse">
            <a:avLst/>
          </a:prstGeom>
          <a:solidFill>
            <a:srgbClr val="103750"/>
          </a:solidFill>
          <a:ln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3230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8D9FF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231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5B8CA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9189719" y="1920240"/>
            <a:ext cx="1417320" cy="1417320"/>
          </a:xfrm>
          <a:prstGeom prst="ellipse">
            <a:avLst/>
          </a:prstGeom>
          <a:solidFill>
            <a:srgbClr val="103750"/>
          </a:solidFill>
          <a:ln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43230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8D9FF"/>
                </a:solidFill>
                <a:latin typeface="Aptos"/>
              </a:rPr>
              <a:t>VERIFY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2560320" cy="128016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50791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8D9FF"/>
                </a:solidFill>
                <a:latin typeface="Aptos"/>
              </a:rPr>
              <a:t>对齐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453128"/>
            <a:ext cx="215798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目标、非目标、成功标准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886200"/>
            <a:ext cx="2560320" cy="128016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4050791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893FF"/>
                </a:solidFill>
                <a:latin typeface="Aptos"/>
              </a:rPr>
              <a:t>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453128"/>
            <a:ext cx="215798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文件、接口、依赖、风险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2560320" cy="128016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050791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453128"/>
            <a:ext cx="215798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垂直切片、TDD、独立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3886200"/>
            <a:ext cx="2560320" cy="128016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4050791"/>
            <a:ext cx="2157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15C"/>
                </a:solidFill>
                <a:latin typeface="Aptos"/>
              </a:rPr>
              <a:t>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4453128"/>
            <a:ext cx="215798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测试、审查、运行时证据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OPERATING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8D9FF"/>
                </a:solidFill>
                <a:latin typeface="Aptos"/>
              </a:rPr>
              <a:t>07 ·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选择建议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58D9FF"/>
                </a:solidFill>
                <a:latin typeface="Aptos"/>
              </a:rPr>
              <a:t>3 →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5B8CA"/>
                </a:solidFill>
                <a:latin typeface="Aptos"/>
              </a:rPr>
              <a:t>吸收三套方案的长处，形成团队自己的最小可行工作流。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83080"/>
            <a:ext cx="4846320" cy="9144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947672"/>
            <a:ext cx="44439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15C"/>
                </a:solidFill>
                <a:latin typeface="Aptos"/>
              </a:rPr>
              <a:t>小改动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350008"/>
            <a:ext cx="4443983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Matt Pocock：轻量、直接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4846320" cy="9144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999232"/>
            <a:ext cx="44439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3E6BE"/>
                </a:solidFill>
                <a:latin typeface="Aptos"/>
              </a:rPr>
              <a:t>常规功能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401568"/>
            <a:ext cx="4443983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Addy：完整、可复用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4846320" cy="914400"/>
          </a:xfrm>
          <a:prstGeom prst="roundRect">
            <a:avLst/>
          </a:prstGeom>
          <a:solidFill>
            <a:srgbClr val="10263C"/>
          </a:solidFill>
          <a:ln w="10160">
            <a:solidFill>
              <a:srgbClr val="304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050791"/>
            <a:ext cx="44439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C8CFF"/>
                </a:solidFill>
                <a:latin typeface="Aptos"/>
              </a:rPr>
              <a:t>高风险任务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453128"/>
            <a:ext cx="4443983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A"/>
                </a:solidFill>
                <a:latin typeface="Aptos"/>
              </a:rPr>
              <a:t>Superpowers：强制、可审计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8D9FF"/>
                </a:solidFill>
                <a:latin typeface="Aptos"/>
              </a:rPr>
              <a:t>最终原则：证据优先于感觉。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D879F"/>
                </a:solidFill>
                <a:latin typeface="Aptos"/>
              </a:rPr>
              <a:t>END · DISCUSS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D879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